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A23"/>
          </a:solidFill>
          <a:ln>
            <a:solidFill>
              <a:srgbClr val="0F0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F5FA"/>
          </a:solidFill>
          <a:ln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41428"/>
                </a:solidFill>
              </a:defRPr>
            </a:pPr>
            <a:r>
              <a:t>SYMBIOSIS INSTITUTE OF TECHNOLOGY, PUNE   |   IEEE Student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SOLUTION ARCHITECTURE - HOW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777240"/>
          </a:xfrm>
          <a:prstGeom prst="roundRect">
            <a:avLst/>
          </a:prstGeom>
          <a:solidFill>
            <a:srgbClr val="1E143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0E5FF"/>
                </a:solidFill>
              </a:defRPr>
            </a:pPr>
            <a:r>
              <a:t>1. OPTICAL INGESTION &amp; TRIGGER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Conveyor proximity sensor triggers Global Shutter 1080p camera under fixed, diffused LED lighting.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13432"/>
            <a:ext cx="10728655" cy="777240"/>
          </a:xfrm>
          <a:prstGeom prst="roundRect">
            <a:avLst/>
          </a:prstGeom>
          <a:solidFill>
            <a:srgbClr val="1E143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0E5FF"/>
                </a:solidFill>
              </a:defRPr>
            </a:pPr>
            <a:r>
              <a:t>2. SPATIAL NORMALIZATION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OpenCV bilateral filtering, ROI cropping, and Planar Homography matrix alignment eliminate vibration.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63824"/>
            <a:ext cx="10728655" cy="777240"/>
          </a:xfrm>
          <a:prstGeom prst="roundRect">
            <a:avLst/>
          </a:prstGeom>
          <a:solidFill>
            <a:srgbClr val="1E14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59E0B"/>
                </a:solidFill>
              </a:defRPr>
            </a:pPr>
            <a:r>
              <a:t>3. TIER 1: ZERO-SHOT SKU ROUTING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OpenAI CLIP (ViT-B/32) computes cosine similarity against enrolled SKU visual prototypes.</a:t>
            </a:r>
            <a:br/>
            <a:r>
              <a:t>- Sim &lt; 0.60 -&gt; Unknown Object Guardrail (Line Hold / Prompt Onboarding)</a:t>
            </a:r>
            <a:br/>
            <a:r>
              <a:t>- Sim &gt;= 0.60 -&gt; Target SKU Identified (e.g., 'SKU_Bolt_M8')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14216"/>
            <a:ext cx="10728655" cy="777240"/>
          </a:xfrm>
          <a:prstGeom prst="roundRect">
            <a:avLst/>
          </a:prstGeom>
          <a:solidFill>
            <a:srgbClr val="1E143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0E5FF"/>
                </a:solidFill>
              </a:defRPr>
            </a:pPr>
            <a:r>
              <a:t>4. TIER 2: MEMORY BANK SCORING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Dispatches to Registry['SKU_Bolt_M8']. Computes patch Euclidean distance to 10% Coreset memory bank.</a:t>
            </a:r>
            <a:br/>
            <a:r>
              <a:t>- Latency &lt; 14 ms via TensorRT INT8 quantization on edge hardware.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64608"/>
            <a:ext cx="10728655" cy="777240"/>
          </a:xfrm>
          <a:prstGeom prst="roundRect">
            <a:avLst/>
          </a:prstGeom>
          <a:solidFill>
            <a:srgbClr val="1E14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5. 3-WAY DECISION &amp; ACTUATION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- Score &lt; t_low  -&gt; PASS: Unit proceeds nominally down conveyor</a:t>
            </a:r>
            <a:br/>
            <a:r>
              <a:t>- t_low &lt;= Score &lt;= t_high -&gt; REVIEW: Escalated to human QA queue</a:t>
            </a:r>
            <a:br/>
            <a:r>
              <a:t>- Score &gt; t_high -&gt; REJECT: Fires Modbus TCP trigger to pneumatic diverter arm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15000"/>
            <a:ext cx="10728655" cy="777240"/>
          </a:xfrm>
          <a:prstGeom prst="roundRect">
            <a:avLst/>
          </a:prstGeom>
          <a:solidFill>
            <a:srgbClr val="1E143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0E5FF"/>
                </a:solidFill>
              </a:defRPr>
            </a:pPr>
            <a:r>
              <a:t>6. INSPECTABLE XAI &amp; TELEMETRY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Side-by-side nearest nominal patch retrieval from memory bank + real-time drift tracking dashboard.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A23"/>
          </a:solidFill>
          <a:ln>
            <a:solidFill>
              <a:srgbClr val="0F0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F5FA"/>
          </a:solidFill>
          <a:ln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41428"/>
                </a:solidFill>
              </a:defRPr>
            </a:pPr>
            <a:r>
              <a:t>SYMBIOSIS INSTITUTE OF TECHNOLOGY, PUNE   |   IEEE Student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AI INNOVATION &amp;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2194560"/>
          </a:xfrm>
          <a:prstGeom prst="roundRect">
            <a:avLst/>
          </a:prstGeom>
          <a:solidFill>
            <a:srgbClr val="1E143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CORE ANOMALY AI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PatchCore (Coreset Memory Bank)</a:t>
            </a:r>
          </a:p>
          <a:p>
            <a:pPr>
              <a:defRPr sz="1000">
                <a:solidFill>
                  <a:srgbClr val="B4B4D2"/>
                </a:solidFill>
              </a:defRPr>
            </a:pPr>
            <a:r>
              <a:t>Zero-Defect Calibration: Learns exclusively from 20-30 nominal parts using minimax facility location, eliminating the need for labeled defect datasets.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2194560"/>
          </a:xfrm>
          <a:prstGeom prst="roundRect">
            <a:avLst/>
          </a:prstGeom>
          <a:solidFill>
            <a:srgbClr val="1E14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ZERO-SHOT ROUTING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OpenAI CLIP (ViT-B/32)</a:t>
            </a:r>
          </a:p>
          <a:p>
            <a:pPr>
              <a:defRPr sz="1000">
                <a:solidFill>
                  <a:srgbClr val="B4B4D2"/>
                </a:solidFill>
              </a:defRPr>
            </a:pPr>
            <a:r>
              <a:t>Zero-Shot Multi-SKU Dispatch: Uses cosine similarity to route frames to component-specific memory banks; halts lines on unrecognized parts.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2194560"/>
          </a:xfrm>
          <a:prstGeom prst="roundRect">
            <a:avLst/>
          </a:prstGeom>
          <a:solidFill>
            <a:srgbClr val="1E14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INSPECTABLE XAI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Patch-Level Metric Retrieval</a:t>
            </a:r>
          </a:p>
          <a:p>
            <a:pPr>
              <a:defRPr sz="1000">
                <a:solidFill>
                  <a:srgbClr val="B4B4D2"/>
                </a:solidFill>
              </a:defRPr>
            </a:pPr>
            <a:r>
              <a:t>Nearest-Neighbor Visual Proof: Replaces uncalibrated attention maps with exact Euclidean distance heatmaps and displays side-by-side nominal reference patches.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1E143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EDGE ACCELERATION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NVIDIA TensorRT (INT8)</a:t>
            </a:r>
          </a:p>
          <a:p>
            <a:pPr>
              <a:defRPr sz="1000">
                <a:solidFill>
                  <a:srgbClr val="B4B4D2"/>
                </a:solidFill>
              </a:defRPr>
            </a:pPr>
            <a:r>
              <a:t>Sub-14ms Execution: Layer fusion and symmetric integer quantization to sustain &gt;70 FPS on edge hardware (NVIDIA Jetson / Industrial IPC).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23360"/>
            <a:ext cx="3383280" cy="2194560"/>
          </a:xfrm>
          <a:prstGeom prst="roundRect">
            <a:avLst/>
          </a:prstGeom>
          <a:solidFill>
            <a:srgbClr val="1E143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VISION PREPROCESSING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OpenCV &amp; Spatial Transformers</a:t>
            </a:r>
          </a:p>
          <a:p>
            <a:pPr>
              <a:defRPr sz="1000">
                <a:solidFill>
                  <a:srgbClr val="B4B4D2"/>
                </a:solidFill>
              </a:defRPr>
            </a:pPr>
            <a:r>
              <a:t>Perspective Correction: Homography matrix calibration and sub-pixel edge profiling to isolate regions of interest and eliminate conveyor vibration.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383280" cy="2194560"/>
          </a:xfrm>
          <a:prstGeom prst="roundRect">
            <a:avLst/>
          </a:prstGeom>
          <a:solidFill>
            <a:srgbClr val="1E143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CONTROL &amp; TELEMETRY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FastAPI, Streamlit, Modbus TCP</a:t>
            </a:r>
          </a:p>
          <a:p>
            <a:pPr>
              <a:defRPr sz="1000">
                <a:solidFill>
                  <a:srgbClr val="B4B4D2"/>
                </a:solidFill>
              </a:defRPr>
            </a:pPr>
            <a:r>
              <a:t>Closed-Loop Actuation: Delivers real-time pass/review/reject telemetry and fires direct PLC signals to pneumatic rejection diverters.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